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a2e9acd-3525-014a-b1b1-1500aaa341ae}">
          <p14:sldIdLst>
            <p14:sldId id="256"/>
          </p14:sldIdLst>
        </p14:section>
        <p14:section name="Problema" id="{e4ce93a0-ef93-3bf8-9181-8cf5bfc55d73}">
          <p14:sldIdLst>
            <p14:sldId id="257"/>
            <p14:sldId id="258"/>
          </p14:sldIdLst>
        </p14:section>
        <p14:section name="Solución" id="{bdcb79c4-b09e-6875-6982-1502ae7d2db0}">
          <p14:sldIdLst>
            <p14:sldId id="259"/>
            <p14:sldId id="260"/>
            <p14:sldId id="261"/>
          </p14:sldIdLst>
        </p14:section>
        <p14:section name="Confianza" id="{7cf7096b-c0c9-c38c-6c15-92a2d809987d}">
          <p14:sldIdLst>
            <p14:sldId id="262"/>
            <p14:sldId id="263"/>
            <p14:sldId id="264"/>
          </p14:sldIdLst>
        </p14:section>
        <p14:section name="Construcción" id="{ff817d90-6ee2-feae-8a92-cfaf87077ce5}">
          <p14:sldIdLst>
            <p14:sldId id="265"/>
            <p14:sldId id="266"/>
            <p14:sldId id="267"/>
            <p14:sldId id="268"/>
            <p14:sldId id="269"/>
          </p14:sldIdLst>
        </p14:section>
        <p14:section name="Resultados" id="{2c273c71-65f5-d058-64cb-2da9ed150e7e}">
          <p14:sldIdLst>
            <p14:sldId id="270"/>
            <p14:sldId id="271"/>
            <p14:sldId id="272"/>
          </p14:sldIdLst>
        </p14:section>
        <p14:section name="Cierre" id="{b4bc22fe-7246-ed4b-fed9-b6b3192c0e1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A1430"/>
                </a:solidFill>
                <a:latin typeface="+mn-lt"/>
              </a:rPr>
              <a:t>Ejecución real alojada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Estimación probable</c:v>
                </c:pt>
              </c:strCache>
            </c:strRef>
          </c:tx>
          <c:spPr>
            <a:solidFill>
              <a:srgbClr val="14418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1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Understand</c:v>
                  </c:pt>
                  <c:pt idx="1">
                    <c:v>Plan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0.338</c:v>
                </c:pt>
                <c:pt idx="1">
                  <c:v>0.048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Coste real</c:v>
                </c:pt>
              </c:strCache>
            </c:strRef>
          </c:tx>
          <c:spPr>
            <a:solidFill>
              <a:srgbClr val="1DD3E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1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Understand</c:v>
                  </c:pt>
                  <c:pt idx="1">
                    <c:v>Plan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0.092</c:v>
                </c:pt>
                <c:pt idx="1">
                  <c:v>0.022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A1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1C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A1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A1430"/>
                </a:solidFill>
                <a:latin typeface="+mn-lt"/>
              </a:rPr>
              <a:t>Tarjetas por nivel de agente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D3EB"/>
              </a:solidFill>
              <a:effectLst/>
            </c:spPr>
          </c:dPt>
          <c:dPt>
            <c:idx val="1"/>
            <c:bubble3D val="0"/>
            <c:spPr>
              <a:solidFill>
                <a:srgbClr val="14418E"/>
              </a:solidFill>
              <a:effectLst/>
            </c:spPr>
          </c:dPt>
          <c:dPt>
            <c:idx val="2"/>
            <c:bubble3D val="0"/>
            <c:spPr>
              <a:solidFill>
                <a:srgbClr val="016BE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haiku</c:v>
                </c:pt>
                <c:pt idx="1">
                  <c:v>sonnet</c:v>
                </c:pt>
                <c:pt idx="2">
                  <c:v>opus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99</c:v>
                </c:pt>
                <c:pt idx="1">
                  <c:v>271</c:v>
                </c:pt>
                <c:pt idx="2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A1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Rosetta convierte un código legado en una especificación verificada, donde cada hallazgo cita archivo y líneas, y en un paquete de traspaso para modernizarlo.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RFC-001, sección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RFC-001, sección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README.md y RFC-001, sección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RFC-001, secciones 4.5 y 6; handoff.md para el estado de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RFC-001, sección 2, objetivos 4 y 9. Los colores siguen la paleta del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RFC-001, sección 4.4; process-flows.md, sección 3. Los estados y sus colores son los de la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RFC-001, secciones 4.6 y 4.8. Datos: la ejecución del 2026-10-24 en el entorno alojado con Claude Haiku 5.5 en reader, verifier y summariser, 11 áreas de eShopLegacyWebForms.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process-flows.md, secciones 5 y 6; RFC-001, sección 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docs/orchestration/tasks.md, Totales (400 tarjetas: 99 haiku, 271 sonnet, 30 opus).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docs/architecture.md, secciones 2, 3 y 7; CLAUDE.md, reglas del sistema y del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package.json; docs/environments-and-delivery.md, secciones 1, 2 y 6; docs/architecture.md, sección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src/infrastructure/scan/packs (csharp, vb, sql), src/infrastructure/scan/universal/language-table.ts; evaluación del 2026-10-25 (20261025-092418-eval). Medido solo en C# y WebForms; el resto, sin conjunto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docs/runbooks/deploy.md, Deployment record (2026-10-24).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la ejecución del 2026-10-24 en el entorno alojado. Paquete: README, PRD, TRD, requisitos, 10 decisiones, 4 flujos, 5 wireframes, tareas y preguntas abiertas.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Objetivos: RFC-001, sección 7. Citas y coste: la ejecución alojada del 2026-10-24. Precisión y recuperación: npm run eval del 2026-10-25 (experimento 20261025-092418-eval, P2-34), media de 3 ejecuciones con su mínimo y máximo.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 de la demostración en https://ca-rosetta.nicewater-1ef3fc33.spaincentral.azurecontainerapps.io. El paso 4 enseña la confirmación por encima del umbral y la nota de egreso.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set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0" y="1463040"/>
            <a:ext cx="6126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0" y="3063240"/>
            <a:ext cx="6126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40280" y="1097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Rosetta</a:t>
            </a:r>
            <a:endParaRPr lang="en-US" sz="3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384048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a-rosetta.nicewater-1ef3fc33.spaincentral.azurecontainerapps.io" TargetMode="External"/><Relationship Id="rId2" Type="http://schemas.openxmlformats.org/officeDocument/2006/relationships/hyperlink" Target="https://github.com/blacklight0101/Rosetta" TargetMode="External"/><Relationship Id="rId3" Type="http://schemas.openxmlformats.org/officeDocument/2006/relationships/hyperlink" Target="https://blacklight0101.github.io/Rosetta/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0" y="146304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 código legado a una especificación verificada</a:t>
            </a:r>
            <a:endParaRPr lang="en-US" sz="3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0" y="306324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Scan, Understand, Verify, Deepen, Report y Plan: un paquete de entrega listo para modernizar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problema: sistemas que nadie entiende ya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icon circle 2"/>
          <p:cNvSpPr/>
          <p:nvPr/>
        </p:nvSpPr>
        <p:spPr>
          <a:xfrm>
            <a:off x="868680" y="19659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03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8288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10 a 25 años de antigüedad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ASP.NET WebForms, ASP clásico, VB6, Java EE, PHP 5, Delphi, hojas Excel con macros.</a:t>
            </a:r>
            <a:endParaRPr lang="en-US" sz="1900" dirty="0"/>
          </a:p>
        </p:txBody>
      </p:sp>
      <p:sp>
        <p:nvSpPr>
          <p:cNvPr id="7" name="card 3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8" name="icon circle 4"/>
          <p:cNvSpPr/>
          <p:nvPr/>
        </p:nvSpPr>
        <p:spPr>
          <a:xfrm>
            <a:off x="6537960" y="196596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con 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203704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26680" y="18288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Sin documentación fiable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Falta o está desfasada, y quienes lo escribieron ya no están.</a:t>
            </a:r>
            <a:endParaRPr lang="en-US" sz="1900" dirty="0"/>
          </a:p>
        </p:txBody>
      </p:sp>
      <p:sp>
        <p:nvSpPr>
          <p:cNvPr id="11" name="card 5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2" name="icon circle 6"/>
          <p:cNvSpPr/>
          <p:nvPr/>
        </p:nvSpPr>
        <p:spPr>
          <a:xfrm>
            <a:off x="868680" y="42519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 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48970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057400" y="41148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Reglas de negocio escondidas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En manejadores de página, procedimientos almacenados, banderas de configuración y cadenas SQL.</a:t>
            </a:r>
            <a:endParaRPr lang="en-US" sz="1900" dirty="0"/>
          </a:p>
        </p:txBody>
      </p:sp>
      <p:sp>
        <p:nvSpPr>
          <p:cNvPr id="15" name="card 7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icon circle 8"/>
          <p:cNvSpPr/>
          <p:nvPr/>
        </p:nvSpPr>
        <p:spPr>
          <a:xfrm>
            <a:off x="6537960" y="425196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 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448970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26680" y="411480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Semanas de trabajo manual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Depende de una persona y nadie puede comprobar de dónde sale cada afirmación.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Usar un asistente de IA sin más no basta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840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Riesgo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ocurre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Respuesta de Rosetta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Salida no verificable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regla aparece en el resumen y no existe en el código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afirmación cita líneas y el verifier la comprueba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Cobertura incompleta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 lo que cabe en su contexto y omite el resto en silencio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Mapa del código del Scan y cobertura por área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Coste sin control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Sesiones largas con APIs de pago y sin tope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Estimación, reserva y topes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Dependencia y privacidad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solo proveedor; el repositorio entero, con secretos, sale a la nube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Proveedor intercambiable; secretos enmascarados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accionable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texto largo que no dice qué hacer ni en qué orden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Plan entrega decisiones, hoja de ruta y tareas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Qué es Rosetta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Una aplicación web con cuentas y control de coste.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Analiza código de cualquier stack; un pack de lenguaje enriquece el mapa.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Escribe una especificación en la que cada hallazgo cita archivo y líneas.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Entrega un paquete de traspaso independiente de la herramienta.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reemplaza ningún sistema ni reconstruye el legado.</a:t>
            </a:r>
            <a:endParaRPr lang="en-US" sz="1800" dirty="0"/>
          </a:p>
        </p:txBody>
      </p:sp>
      <p:sp>
        <p:nvSpPr>
          <p:cNvPr id="4" name="card 9"/>
          <p:cNvSpPr/>
          <p:nvPr/>
        </p:nvSpPr>
        <p:spPr>
          <a:xfrm>
            <a:off x="6126480" y="1554480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icon circle 10"/>
          <p:cNvSpPr/>
          <p:nvPr/>
        </p:nvSpPr>
        <p:spPr>
          <a:xfrm>
            <a:off x="6309360" y="17830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con 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442" y="19851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223760" y="1664208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Repositorio de GitHub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público, fijado a un commit</a:t>
            </a:r>
            <a:endParaRPr lang="en-US" sz="1500" dirty="0"/>
          </a:p>
        </p:txBody>
      </p:sp>
      <p:sp>
        <p:nvSpPr>
          <p:cNvPr id="8" name="card 11"/>
          <p:cNvSpPr/>
          <p:nvPr/>
        </p:nvSpPr>
        <p:spPr>
          <a:xfrm>
            <a:off x="6126480" y="3017520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icon circle 12"/>
          <p:cNvSpPr/>
          <p:nvPr/>
        </p:nvSpPr>
        <p:spPr>
          <a:xfrm>
            <a:off x="6309360" y="32461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344820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3127248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Un zip del código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subido por el usuario</a:t>
            </a:r>
            <a:endParaRPr lang="en-US" sz="1500" dirty="0"/>
          </a:p>
        </p:txBody>
      </p:sp>
      <p:sp>
        <p:nvSpPr>
          <p:cNvPr id="12" name="card 13"/>
          <p:cNvSpPr/>
          <p:nvPr/>
        </p:nvSpPr>
        <p:spPr>
          <a:xfrm>
            <a:off x="6126480" y="4480560"/>
            <a:ext cx="32918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3" name="icon circle 14"/>
          <p:cNvSpPr/>
          <p:nvPr/>
        </p:nvSpPr>
        <p:spPr>
          <a:xfrm>
            <a:off x="6309360" y="47091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 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491124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23760" y="4590288"/>
            <a:ext cx="2148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Libros de Excel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convertidos a texto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9555480" y="3429000"/>
            <a:ext cx="548640" cy="5029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card 15"/>
          <p:cNvSpPr/>
          <p:nvPr/>
        </p:nvSpPr>
        <p:spPr>
          <a:xfrm>
            <a:off x="10195560" y="2377440"/>
            <a:ext cx="1463040" cy="2606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8" name="icon circle 16"/>
          <p:cNvSpPr/>
          <p:nvPr/>
        </p:nvSpPr>
        <p:spPr>
          <a:xfrm>
            <a:off x="10515600" y="26060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con 1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9570" y="2820010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287000" y="36118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Paquete de traspaso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pipeline, de punta a punta</a:t>
            </a:r>
            <a:endParaRPr lang="en-US" sz="3400" dirty="0"/>
          </a:p>
        </p:txBody>
      </p:sp>
      <p:sp>
        <p:nvSpPr>
          <p:cNvPr id="3" name="card 17"/>
          <p:cNvSpPr/>
          <p:nvPr/>
        </p:nvSpPr>
        <p:spPr>
          <a:xfrm>
            <a:off x="54864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4" name="icon circle 18"/>
          <p:cNvSpPr/>
          <p:nvPr/>
        </p:nvSpPr>
        <p:spPr>
          <a:xfrm>
            <a:off x="960120" y="18745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97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Scan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2900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Mapa del código sin IA: archivos, lenguajes, puntos de entrada y áreas. Coste cero.</a:t>
            </a:r>
            <a:endParaRPr lang="en-US" sz="1400" dirty="0"/>
          </a:p>
        </p:txBody>
      </p:sp>
      <p:sp>
        <p:nvSpPr>
          <p:cNvPr id="9" name="stage arrow 0"/>
          <p:cNvSpPr/>
          <p:nvPr/>
        </p:nvSpPr>
        <p:spPr>
          <a:xfrm>
            <a:off x="2258568" y="2176272"/>
            <a:ext cx="146304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card 19"/>
          <p:cNvSpPr/>
          <p:nvPr/>
        </p:nvSpPr>
        <p:spPr>
          <a:xfrm>
            <a:off x="242316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1" name="icon circle 20"/>
          <p:cNvSpPr/>
          <p:nvPr/>
        </p:nvSpPr>
        <p:spPr>
          <a:xfrm>
            <a:off x="2834640" y="18745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 2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497" y="210037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32888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51460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Understand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342900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reader lee cada área y escribe tarjetas con citas.</a:t>
            </a:r>
            <a:endParaRPr lang="en-US" sz="1400" dirty="0"/>
          </a:p>
        </p:txBody>
      </p:sp>
      <p:sp>
        <p:nvSpPr>
          <p:cNvPr id="16" name="stage arrow 1"/>
          <p:cNvSpPr/>
          <p:nvPr/>
        </p:nvSpPr>
        <p:spPr>
          <a:xfrm>
            <a:off x="4133088" y="2176272"/>
            <a:ext cx="146304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card 21"/>
          <p:cNvSpPr/>
          <p:nvPr/>
        </p:nvSpPr>
        <p:spPr>
          <a:xfrm>
            <a:off x="429768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8" name="icon circle 22"/>
          <p:cNvSpPr/>
          <p:nvPr/>
        </p:nvSpPr>
        <p:spPr>
          <a:xfrm>
            <a:off x="4709160" y="18745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 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17" y="2100377"/>
            <a:ext cx="416966" cy="41696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07408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38912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Verify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4434840" y="342900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cita se comprueba contra sus líneas y el verifier la juzga.</a:t>
            </a:r>
            <a:endParaRPr lang="en-US" sz="1400" dirty="0"/>
          </a:p>
        </p:txBody>
      </p:sp>
      <p:sp>
        <p:nvSpPr>
          <p:cNvPr id="23" name="stage arrow 2"/>
          <p:cNvSpPr/>
          <p:nvPr/>
        </p:nvSpPr>
        <p:spPr>
          <a:xfrm>
            <a:off x="6007608" y="2176272"/>
            <a:ext cx="146304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4" name="card 23"/>
          <p:cNvSpPr/>
          <p:nvPr/>
        </p:nvSpPr>
        <p:spPr>
          <a:xfrm>
            <a:off x="617220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25" name="icon circle 24"/>
          <p:cNvSpPr/>
          <p:nvPr/>
        </p:nvSpPr>
        <p:spPr>
          <a:xfrm>
            <a:off x="6583680" y="18745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icon 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37" y="2100377"/>
            <a:ext cx="416966" cy="41696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81928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26364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Deepen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6309360" y="342900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Vuelve sobre lo que no quedó Supported: relee y juzga de nuevo.</a:t>
            </a:r>
            <a:endParaRPr lang="en-US" sz="1400" dirty="0"/>
          </a:p>
        </p:txBody>
      </p:sp>
      <p:sp>
        <p:nvSpPr>
          <p:cNvPr id="30" name="stage arrow 3"/>
          <p:cNvSpPr/>
          <p:nvPr/>
        </p:nvSpPr>
        <p:spPr>
          <a:xfrm>
            <a:off x="7882128" y="2176272"/>
            <a:ext cx="146304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1" name="card 25"/>
          <p:cNvSpPr/>
          <p:nvPr/>
        </p:nvSpPr>
        <p:spPr>
          <a:xfrm>
            <a:off x="804672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32" name="icon circle 26"/>
          <p:cNvSpPr/>
          <p:nvPr/>
        </p:nvSpPr>
        <p:spPr>
          <a:xfrm>
            <a:off x="8458200" y="1874520"/>
            <a:ext cx="868680" cy="868680"/>
          </a:xfrm>
          <a:prstGeom prst="ellipse">
            <a:avLst/>
          </a:prstGeom>
          <a:solidFill>
            <a:srgbClr val="0BA3E9"/>
          </a:solidFill>
          <a:ln/>
        </p:spPr>
      </p:sp>
      <p:pic>
        <p:nvPicPr>
          <p:cNvPr id="33" name="icon 2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057" y="2100377"/>
            <a:ext cx="416966" cy="41696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156448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813816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Report</a:t>
            </a:r>
            <a:endParaRPr lang="en-US" sz="1900" dirty="0"/>
          </a:p>
        </p:txBody>
      </p:sp>
      <p:sp>
        <p:nvSpPr>
          <p:cNvPr id="36" name="Text 29"/>
          <p:cNvSpPr txBox="1"/>
          <p:nvPr/>
        </p:nvSpPr>
        <p:spPr>
          <a:xfrm>
            <a:off x="8183880" y="342900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Hallazgos, veredictos, preguntas abiertas y coste en un informe.</a:t>
            </a:r>
            <a:endParaRPr lang="en-US" sz="1400" dirty="0"/>
          </a:p>
        </p:txBody>
      </p:sp>
      <p:sp>
        <p:nvSpPr>
          <p:cNvPr id="37" name="stage arrow 4"/>
          <p:cNvSpPr/>
          <p:nvPr/>
        </p:nvSpPr>
        <p:spPr>
          <a:xfrm>
            <a:off x="9756648" y="2176272"/>
            <a:ext cx="146304" cy="25603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8" name="card 27"/>
          <p:cNvSpPr/>
          <p:nvPr/>
        </p:nvSpPr>
        <p:spPr>
          <a:xfrm>
            <a:off x="9921240" y="1600200"/>
            <a:ext cx="1691640" cy="35661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39" name="icon circle 28"/>
          <p:cNvSpPr/>
          <p:nvPr/>
        </p:nvSpPr>
        <p:spPr>
          <a:xfrm>
            <a:off x="10332720" y="18745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con 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8577" y="2100377"/>
            <a:ext cx="416966" cy="416966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030968" y="17190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1001268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Plan</a:t>
            </a:r>
            <a:endParaRPr lang="en-US" sz="1900" dirty="0"/>
          </a:p>
        </p:txBody>
      </p:sp>
      <p:sp>
        <p:nvSpPr>
          <p:cNvPr id="43" name="Text 35"/>
          <p:cNvSpPr txBox="1"/>
          <p:nvPr/>
        </p:nvSpPr>
        <p:spPr>
          <a:xfrm>
            <a:off x="10058400" y="342900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planner escribe arquitectura, decisiones, hoja de ruta y tareas.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Las seis etapas están construidas en la release 1 y funcionan en el entorno alojado. Deepen es opcional y se confirma con su estimación.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Agentes en vivo y proveedores intercambiables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Roles de los agentes</a:t>
            </a:r>
            <a:endParaRPr lang="en-US" sz="1800" dirty="0"/>
          </a:p>
        </p:txBody>
      </p:sp>
      <p:sp>
        <p:nvSpPr>
          <p:cNvPr id="4" name="card 29"/>
          <p:cNvSpPr/>
          <p:nvPr/>
        </p:nvSpPr>
        <p:spPr>
          <a:xfrm>
            <a:off x="548640" y="2011680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5" name="role dot reader"/>
          <p:cNvSpPr/>
          <p:nvPr/>
        </p:nvSpPr>
        <p:spPr>
          <a:xfrm>
            <a:off x="777240" y="2267712"/>
            <a:ext cx="237744" cy="237744"/>
          </a:xfrm>
          <a:prstGeom prst="ellipse">
            <a:avLst/>
          </a:prstGeom>
          <a:solidFill>
            <a:srgbClr val="0A1C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762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reader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176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lee un área y escribe las tarjetas con sus citas</a:t>
            </a:r>
            <a:endParaRPr lang="en-US" sz="1400" dirty="0"/>
          </a:p>
        </p:txBody>
      </p:sp>
      <p:sp>
        <p:nvSpPr>
          <p:cNvPr id="8" name="card 30"/>
          <p:cNvSpPr/>
          <p:nvPr/>
        </p:nvSpPr>
        <p:spPr>
          <a:xfrm>
            <a:off x="548640" y="2926080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9" name="role dot verifier"/>
          <p:cNvSpPr/>
          <p:nvPr/>
        </p:nvSpPr>
        <p:spPr>
          <a:xfrm>
            <a:off x="777240" y="3182112"/>
            <a:ext cx="237744" cy="237744"/>
          </a:xfrm>
          <a:prstGeom prst="ellipse">
            <a:avLst/>
          </a:prstGeom>
          <a:solidFill>
            <a:srgbClr val="1441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0906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verifier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0906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juzga cada afirmación contra las líneas citadas</a:t>
            </a:r>
            <a:endParaRPr lang="en-US" sz="1400" dirty="0"/>
          </a:p>
        </p:txBody>
      </p:sp>
      <p:sp>
        <p:nvSpPr>
          <p:cNvPr id="12" name="card 31"/>
          <p:cNvSpPr/>
          <p:nvPr/>
        </p:nvSpPr>
        <p:spPr>
          <a:xfrm>
            <a:off x="548640" y="3840480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13" name="role dot summariser"/>
          <p:cNvSpPr/>
          <p:nvPr/>
        </p:nvSpPr>
        <p:spPr>
          <a:xfrm>
            <a:off x="777240" y="4096512"/>
            <a:ext cx="237744" cy="237744"/>
          </a:xfrm>
          <a:prstGeom prst="ellipse">
            <a:avLst/>
          </a:prstGeom>
          <a:solidFill>
            <a:srgbClr val="016B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4005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summariser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0050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une tarjetas repetidas y escribe la vista general</a:t>
            </a:r>
            <a:endParaRPr lang="en-US" sz="1400" dirty="0"/>
          </a:p>
        </p:txBody>
      </p:sp>
      <p:sp>
        <p:nvSpPr>
          <p:cNvPr id="16" name="card 32"/>
          <p:cNvSpPr/>
          <p:nvPr/>
        </p:nvSpPr>
        <p:spPr>
          <a:xfrm>
            <a:off x="548640" y="4754880"/>
            <a:ext cx="60350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17" name="role dot planner"/>
          <p:cNvSpPr/>
          <p:nvPr/>
        </p:nvSpPr>
        <p:spPr>
          <a:xfrm>
            <a:off x="777240" y="5010912"/>
            <a:ext cx="237744" cy="237744"/>
          </a:xfrm>
          <a:prstGeom prst="ellipse">
            <a:avLst/>
          </a:prstGeom>
          <a:solidFill>
            <a:srgbClr val="0BA3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88720" y="4919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planner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919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escribe el paquete del Plan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15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La página de la ejecución muestra cada agente, sus tarjetas y el coste por rol mientras trabaja, y la reproduce después.</a:t>
            </a:r>
            <a:endParaRPr lang="en-US" sz="1400" dirty="0"/>
          </a:p>
        </p:txBody>
      </p:sp>
      <p:sp>
        <p:nvSpPr>
          <p:cNvPr id="21" name="card 33"/>
          <p:cNvSpPr/>
          <p:nvPr/>
        </p:nvSpPr>
        <p:spPr>
          <a:xfrm>
            <a:off x="6949440" y="1508760"/>
            <a:ext cx="4663440" cy="4526280"/>
          </a:xfrm>
          <a:prstGeom prst="roundRect">
            <a:avLst>
              <a:gd name="adj" fmla="val 2424"/>
            </a:avLst>
          </a:prstGeom>
          <a:solidFill>
            <a:srgbClr val="0A1C58"/>
          </a:solidFill>
          <a:ln/>
        </p:spPr>
      </p:sp>
      <p:sp>
        <p:nvSpPr>
          <p:cNvPr id="22" name="icon circle 34"/>
          <p:cNvSpPr/>
          <p:nvPr/>
        </p:nvSpPr>
        <p:spPr>
          <a:xfrm>
            <a:off x="877824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 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4" y="2020824"/>
            <a:ext cx="438912" cy="43891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22376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 único puerto LlmProvider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342900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Ollama en local, coste cero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OpenAI en la nube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Anthropic en la nube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Cada rol elige su proveedor y modelo; cada llamada pasa por el guard de egreso y el de presupuesto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Evidencia y verifier: nada se afirma sin citar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Cada afirmación es una tarjeta con al menos una cita ruta:líneaInicio-líneaFin. Nada se borra: lo Rejected se conserva y se muestra con su motivo.</a:t>
            </a:r>
            <a:endParaRPr lang="en-US" sz="1700" dirty="0"/>
          </a:p>
        </p:txBody>
      </p:sp>
      <p:sp>
        <p:nvSpPr>
          <p:cNvPr id="4" name="card 35"/>
          <p:cNvSpPr/>
          <p:nvPr/>
        </p:nvSpPr>
        <p:spPr>
          <a:xfrm>
            <a:off x="548640" y="2880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AF3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Proposed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reader la escribe con su cita</a:t>
            </a:r>
            <a:endParaRPr lang="en-US" sz="1900" dirty="0"/>
          </a:p>
        </p:txBody>
      </p:sp>
      <p:sp>
        <p:nvSpPr>
          <p:cNvPr id="6" name="flow line 0"/>
          <p:cNvSpPr/>
          <p:nvPr/>
        </p:nvSpPr>
        <p:spPr>
          <a:xfrm flipV="1">
            <a:off x="2926080" y="2660904"/>
            <a:ext cx="914400" cy="905256"/>
          </a:xfrm>
          <a:prstGeom prst="line">
            <a:avLst/>
          </a:prstGeom>
          <a:noFill/>
          <a:ln w="19050">
            <a:solidFill>
              <a:srgbClr val="AFC3DC"/>
            </a:solidFill>
            <a:prstDash val="solid"/>
          </a:ln>
        </p:spPr>
      </p:sp>
      <p:sp>
        <p:nvSpPr>
          <p:cNvPr id="7" name="card 36"/>
          <p:cNvSpPr/>
          <p:nvPr/>
        </p:nvSpPr>
        <p:spPr>
          <a:xfrm>
            <a:off x="3840480" y="2240280"/>
            <a:ext cx="4754880" cy="841248"/>
          </a:xfrm>
          <a:prstGeom prst="roundRect">
            <a:avLst>
              <a:gd name="adj" fmla="val 13043"/>
            </a:avLst>
          </a:prstGeom>
          <a:solidFill>
            <a:srgbClr val="0A1C58"/>
          </a:solidFill>
          <a:ln/>
        </p:spPr>
      </p:sp>
      <p:pic>
        <p:nvPicPr>
          <p:cNvPr id="8" name="state glyph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5146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389120" y="23317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Citation invalid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3317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el archivo o las líneas no existen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2468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paso 1: la cita existe</a:t>
            </a:r>
            <a:endParaRPr lang="en-US" sz="1400" dirty="0"/>
          </a:p>
        </p:txBody>
      </p:sp>
      <p:sp>
        <p:nvSpPr>
          <p:cNvPr id="12" name="flow line 1"/>
          <p:cNvSpPr/>
          <p:nvPr/>
        </p:nvSpPr>
        <p:spPr>
          <a:xfrm>
            <a:off x="2926080" y="3566160"/>
            <a:ext cx="914400" cy="118872"/>
          </a:xfrm>
          <a:prstGeom prst="line">
            <a:avLst/>
          </a:prstGeom>
          <a:noFill/>
          <a:ln w="19050">
            <a:solidFill>
              <a:srgbClr val="AFC3DC"/>
            </a:solidFill>
            <a:prstDash val="solid"/>
          </a:ln>
        </p:spPr>
      </p:sp>
      <p:sp>
        <p:nvSpPr>
          <p:cNvPr id="13" name="card 37"/>
          <p:cNvSpPr/>
          <p:nvPr/>
        </p:nvSpPr>
        <p:spPr>
          <a:xfrm>
            <a:off x="3840480" y="3264408"/>
            <a:ext cx="4754880" cy="841248"/>
          </a:xfrm>
          <a:prstGeom prst="roundRect">
            <a:avLst>
              <a:gd name="adj" fmla="val 13043"/>
            </a:avLst>
          </a:prstGeom>
          <a:solidFill>
            <a:srgbClr val="016BEC"/>
          </a:solidFill>
          <a:ln/>
        </p:spPr>
      </p:sp>
      <p:pic>
        <p:nvPicPr>
          <p:cNvPr id="14" name="state glyph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53872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89120" y="33558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Supported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989320" y="335584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el verifier confirma que la evidencia la sostiene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778240" y="34930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paso 2: el verifier juzga</a:t>
            </a:r>
            <a:endParaRPr lang="en-US" sz="1400" dirty="0"/>
          </a:p>
        </p:txBody>
      </p:sp>
      <p:sp>
        <p:nvSpPr>
          <p:cNvPr id="18" name="flow line 2"/>
          <p:cNvSpPr/>
          <p:nvPr/>
        </p:nvSpPr>
        <p:spPr>
          <a:xfrm>
            <a:off x="2926080" y="3566160"/>
            <a:ext cx="914400" cy="1143000"/>
          </a:xfrm>
          <a:prstGeom prst="line">
            <a:avLst/>
          </a:prstGeom>
          <a:noFill/>
          <a:ln w="19050">
            <a:solidFill>
              <a:srgbClr val="AFC3DC"/>
            </a:solidFill>
            <a:prstDash val="solid"/>
          </a:ln>
        </p:spPr>
      </p:sp>
      <p:sp>
        <p:nvSpPr>
          <p:cNvPr id="19" name="card 38"/>
          <p:cNvSpPr/>
          <p:nvPr/>
        </p:nvSpPr>
        <p:spPr>
          <a:xfrm>
            <a:off x="3840480" y="4288536"/>
            <a:ext cx="4754880" cy="841248"/>
          </a:xfrm>
          <a:prstGeom prst="roundRect">
            <a:avLst>
              <a:gd name="adj" fmla="val 13043"/>
            </a:avLst>
          </a:prstGeom>
          <a:solidFill>
            <a:srgbClr val="14418E"/>
          </a:solidFill>
          <a:ln/>
        </p:spPr>
      </p:sp>
      <p:pic>
        <p:nvPicPr>
          <p:cNvPr id="20" name="state glyph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6285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89120" y="437997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Rejected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5989320" y="437997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 evidencia no la sostiene; se muestra el motivo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778240" y="45171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paso 2</a:t>
            </a:r>
            <a:endParaRPr lang="en-US" sz="1400" dirty="0"/>
          </a:p>
        </p:txBody>
      </p:sp>
      <p:sp>
        <p:nvSpPr>
          <p:cNvPr id="24" name="flow line 3"/>
          <p:cNvSpPr/>
          <p:nvPr/>
        </p:nvSpPr>
        <p:spPr>
          <a:xfrm>
            <a:off x="2926080" y="3566160"/>
            <a:ext cx="914400" cy="2167128"/>
          </a:xfrm>
          <a:prstGeom prst="line">
            <a:avLst/>
          </a:prstGeom>
          <a:noFill/>
          <a:ln w="19050">
            <a:solidFill>
              <a:srgbClr val="AFC3DC"/>
            </a:solidFill>
            <a:prstDash val="solid"/>
          </a:ln>
        </p:spPr>
      </p:sp>
      <p:sp>
        <p:nvSpPr>
          <p:cNvPr id="25" name="card 39"/>
          <p:cNvSpPr/>
          <p:nvPr/>
        </p:nvSpPr>
        <p:spPr>
          <a:xfrm>
            <a:off x="3840480" y="5312664"/>
            <a:ext cx="4754880" cy="841248"/>
          </a:xfrm>
          <a:prstGeom prst="roundRect">
            <a:avLst>
              <a:gd name="adj" fmla="val 13043"/>
            </a:avLst>
          </a:prstGeom>
          <a:solidFill>
            <a:srgbClr val="0BA3E9"/>
          </a:solidFill>
          <a:ln/>
        </p:spPr>
      </p:sp>
      <p:pic>
        <p:nvPicPr>
          <p:cNvPr id="26" name="state glyph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5586984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389120" y="54041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Unverified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989320" y="540410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 ejecución se detuvo antes; Deepen o reanudar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778240" y="554126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tope o parada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Coste bajo control antes, durante y después</a:t>
            </a:r>
            <a:endParaRPr lang="en-US" sz="3400" dirty="0"/>
          </a:p>
        </p:txBody>
      </p:sp>
      <p:sp>
        <p:nvSpPr>
          <p:cNvPr id="3" name="card 40"/>
          <p:cNvSpPr/>
          <p:nvPr/>
        </p:nvSpPr>
        <p:spPr>
          <a:xfrm>
            <a:off x="548640" y="1508760"/>
            <a:ext cx="2286000" cy="374904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icon circle 41"/>
          <p:cNvSpPr/>
          <p:nvPr/>
        </p:nvSpPr>
        <p:spPr>
          <a:xfrm>
            <a:off x="1234440" y="17373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9751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Antes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9184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Estimación por rol según la tabla de precios: baja, probable y alta. Se pide confirmación por encima del umbral.</a:t>
            </a:r>
            <a:endParaRPr lang="en-US" sz="1400" dirty="0"/>
          </a:p>
        </p:txBody>
      </p:sp>
      <p:sp>
        <p:nvSpPr>
          <p:cNvPr id="8" name="card 42"/>
          <p:cNvSpPr/>
          <p:nvPr/>
        </p:nvSpPr>
        <p:spPr>
          <a:xfrm>
            <a:off x="3063240" y="1508760"/>
            <a:ext cx="2286000" cy="374904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icon circle 43"/>
          <p:cNvSpPr/>
          <p:nvPr/>
        </p:nvSpPr>
        <p:spPr>
          <a:xfrm>
            <a:off x="3749040" y="173736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784" y="197510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461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Durante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329184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llamada se reserva por su peor caso; si podría pasar el tope, no se hace. Tokens y coste en vivo.</a:t>
            </a:r>
            <a:endParaRPr lang="en-US" sz="1400" dirty="0"/>
          </a:p>
        </p:txBody>
      </p:sp>
      <p:sp>
        <p:nvSpPr>
          <p:cNvPr id="13" name="card 44"/>
          <p:cNvSpPr/>
          <p:nvPr/>
        </p:nvSpPr>
        <p:spPr>
          <a:xfrm>
            <a:off x="5577840" y="1508760"/>
            <a:ext cx="2286000" cy="374904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icon circle 45"/>
          <p:cNvSpPr/>
          <p:nvPr/>
        </p:nvSpPr>
        <p:spPr>
          <a:xfrm>
            <a:off x="6263640" y="17373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97510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7607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Siempre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329184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Topes por ejecución, por usuario y día, y por servidor y mes. Los modelos locales cuestan cero y se registran igual.</a:t>
            </a:r>
            <a:endParaRPr lang="en-US" sz="14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8183880" y="1463040"/>
          <a:ext cx="3474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Seguridad: el código analizado no es de fiar</a:t>
            </a:r>
            <a:endParaRPr lang="en-US" sz="3400" dirty="0"/>
          </a:p>
        </p:txBody>
      </p:sp>
      <p:sp>
        <p:nvSpPr>
          <p:cNvPr id="3" name="card 46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icon circle 47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985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Solo lectura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Las herramientas de los agentes no escriben; el repositorio analizado nunca se modifica.</a:t>
            </a:r>
            <a:endParaRPr lang="en-US" sz="1400" dirty="0"/>
          </a:p>
        </p:txBody>
      </p:sp>
      <p:sp>
        <p:nvSpPr>
          <p:cNvPr id="8" name="card 48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icon circle 49"/>
          <p:cNvSpPr/>
          <p:nvPr/>
        </p:nvSpPr>
        <p:spPr>
          <a:xfrm>
            <a:off x="4572000" y="17830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 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198516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Lista de denegados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respetan .rosettaignore y los archivos sensibles conocidos.</a:t>
            </a:r>
            <a:endParaRPr lang="en-US" sz="1400" dirty="0"/>
          </a:p>
        </p:txBody>
      </p:sp>
      <p:sp>
        <p:nvSpPr>
          <p:cNvPr id="13" name="card 50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icon circle 51"/>
          <p:cNvSpPr/>
          <p:nvPr/>
        </p:nvSpPr>
        <p:spPr>
          <a:xfrm>
            <a:off x="8321040" y="17830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 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198516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81160" y="1783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Secretos enmascarados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Claves, contraseñas y cadenas de conexión se ocultan antes de salir.</a:t>
            </a:r>
            <a:endParaRPr lang="en-US" sz="1400" dirty="0"/>
          </a:p>
        </p:txBody>
      </p:sp>
      <p:sp>
        <p:nvSpPr>
          <p:cNvPr id="18" name="card 52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icon circle 53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con 5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4316882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83080" y="4114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Falla cerrado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 el enmascarado falla, no se envía nada y se registra un evento.</a:t>
            </a:r>
            <a:endParaRPr lang="en-US" sz="1400" dirty="0"/>
          </a:p>
        </p:txBody>
      </p:sp>
      <p:sp>
        <p:nvSpPr>
          <p:cNvPr id="23" name="card 54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icon circle 55"/>
          <p:cNvSpPr/>
          <p:nvPr/>
        </p:nvSpPr>
        <p:spPr>
          <a:xfrm>
            <a:off x="4572000" y="4114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con 5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082" y="4316882"/>
            <a:ext cx="373075" cy="37307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32120" y="4114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Registro de egreso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extracto enviado a un proveedor queda registrado.</a:t>
            </a:r>
            <a:endParaRPr lang="en-US" sz="1400" dirty="0"/>
          </a:p>
        </p:txBody>
      </p:sp>
      <p:sp>
        <p:nvSpPr>
          <p:cNvPr id="28" name="card 56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icon circle 57"/>
          <p:cNvSpPr/>
          <p:nvPr/>
        </p:nvSpPr>
        <p:spPr>
          <a:xfrm>
            <a:off x="8321040" y="411480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0" name="icon 5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122" y="4316882"/>
            <a:ext cx="373075" cy="37307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81160" y="4114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Cuentas y auditoría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Cuentas creadas por el administrador, claves cifradas, accesos auditados.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Construcción: especificación y pruebas primero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400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tarjetas de tarea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392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hechas el 2026-10-24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nivel opus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5852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comportamiento de la especificación tiene su prueba antes que el código.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Agentes de Claude construyen cada tarjeta en su rama y su solicitud de cambios.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agente verifier independiente repite las comprobaciones y publica su veredicto.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orquestador fusiona con la CI en verde y el veredicto PASS; la persona dueña decide la especificación y la arquitectura.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58000" y="1417320"/>
          <a:ext cx="4754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Arquitectura: Clean Architecture con puertos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Capas: las dependencias apuntan hacia dentro</a:t>
            </a:r>
            <a:endParaRPr lang="en-US" sz="1800" dirty="0"/>
          </a:p>
        </p:txBody>
      </p:sp>
      <p:sp>
        <p:nvSpPr>
          <p:cNvPr id="4" name="card 58"/>
          <p:cNvSpPr/>
          <p:nvPr/>
        </p:nvSpPr>
        <p:spPr>
          <a:xfrm>
            <a:off x="548640" y="1920240"/>
            <a:ext cx="4937760" cy="868680"/>
          </a:xfrm>
          <a:prstGeom prst="roundRect">
            <a:avLst>
              <a:gd name="adj" fmla="val 12632"/>
            </a:avLst>
          </a:prstGeom>
          <a:solidFill>
            <a:srgbClr val="0A1C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presentation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134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servidor Fastify, interfaz web y la única raíz de composición</a:t>
            </a:r>
            <a:endParaRPr lang="en-US" sz="1200" dirty="0"/>
          </a:p>
        </p:txBody>
      </p:sp>
      <p:sp>
        <p:nvSpPr>
          <p:cNvPr id="7" name="card 59"/>
          <p:cNvSpPr/>
          <p:nvPr/>
        </p:nvSpPr>
        <p:spPr>
          <a:xfrm>
            <a:off x="777240" y="2907792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1441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809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0098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adaptadores: proveedores, guards, base de datos, archivos, language packs</a:t>
            </a:r>
            <a:endParaRPr lang="en-US" sz="1200" dirty="0"/>
          </a:p>
        </p:txBody>
      </p:sp>
      <p:sp>
        <p:nvSpPr>
          <p:cNvPr id="10" name="card 60"/>
          <p:cNvSpPr/>
          <p:nvPr/>
        </p:nvSpPr>
        <p:spPr>
          <a:xfrm>
            <a:off x="1005840" y="3895344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016B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968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2885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casos de uso (scan, understand, verify, report, plan) y puertos</a:t>
            </a:r>
            <a:endParaRPr lang="en-US" sz="1200" dirty="0"/>
          </a:p>
        </p:txBody>
      </p:sp>
      <p:sp>
        <p:nvSpPr>
          <p:cNvPr id="13" name="card 61"/>
          <p:cNvSpPr/>
          <p:nvPr/>
        </p:nvSpPr>
        <p:spPr>
          <a:xfrm>
            <a:off x="1234440" y="4882896"/>
            <a:ext cx="3566160" cy="868680"/>
          </a:xfrm>
          <a:prstGeom prst="roundRect">
            <a:avLst>
              <a:gd name="adj" fmla="val 12632"/>
            </a:avLst>
          </a:prstGeom>
          <a:solidFill>
            <a:srgbClr val="0BA3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4956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domain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27608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reglas puras: afirmaciones, citas, presupuestos; no importa nada externo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dependency-cruiser comprueba la regla en cada CI: ninguna capa interior importa una exterior y no hay ciclos.</a:t>
            </a:r>
            <a:endParaRPr lang="en-US" sz="1300" dirty="0"/>
          </a:p>
        </p:txBody>
      </p:sp>
      <p:sp>
        <p:nvSpPr>
          <p:cNvPr id="17" name="card 62"/>
          <p:cNvSpPr/>
          <p:nvPr/>
        </p:nvSpPr>
        <p:spPr>
          <a:xfrm>
            <a:off x="5943600" y="1371600"/>
            <a:ext cx="2788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8" name="pattern bar 0"/>
          <p:cNvSpPr/>
          <p:nvPr/>
        </p:nvSpPr>
        <p:spPr>
          <a:xfrm>
            <a:off x="5943600" y="1600200"/>
            <a:ext cx="64008" cy="1097280"/>
          </a:xfrm>
          <a:prstGeom prst="rect">
            <a:avLst/>
          </a:prstGeom>
          <a:solidFill>
            <a:srgbClr val="0A1C5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153619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Puertos y adaptadores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 único puerto LlmProvider; adaptadores de Ollama, OpenAI, Anthropic y uno falso para las pruebas.</a:t>
            </a:r>
            <a:endParaRPr lang="en-US" sz="1500" dirty="0"/>
          </a:p>
        </p:txBody>
      </p:sp>
      <p:sp>
        <p:nvSpPr>
          <p:cNvPr id="20" name="card 63"/>
          <p:cNvSpPr/>
          <p:nvPr/>
        </p:nvSpPr>
        <p:spPr>
          <a:xfrm>
            <a:off x="8823960" y="1371600"/>
            <a:ext cx="2788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1" name="pattern bar 1"/>
          <p:cNvSpPr/>
          <p:nvPr/>
        </p:nvSpPr>
        <p:spPr>
          <a:xfrm>
            <a:off x="8823960" y="1600200"/>
            <a:ext cx="64008" cy="1097280"/>
          </a:xfrm>
          <a:prstGeom prst="rect">
            <a:avLst/>
          </a:prstGeom>
          <a:solidFill>
            <a:srgbClr val="14418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52560" y="153619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Decoradores en el puerto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El guard de egreso, el de presupuesto y el esfuerzo de razonamiento envuelven cada llamada.</a:t>
            </a:r>
            <a:endParaRPr lang="en-US" sz="1500" dirty="0"/>
          </a:p>
        </p:txBody>
      </p:sp>
      <p:sp>
        <p:nvSpPr>
          <p:cNvPr id="23" name="card 64"/>
          <p:cNvSpPr/>
          <p:nvPr/>
        </p:nvSpPr>
        <p:spPr>
          <a:xfrm>
            <a:off x="5943600" y="3063240"/>
            <a:ext cx="2788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4" name="pattern bar 2"/>
          <p:cNvSpPr/>
          <p:nvPr/>
        </p:nvSpPr>
        <p:spPr>
          <a:xfrm>
            <a:off x="5943600" y="3291840"/>
            <a:ext cx="64008" cy="1097280"/>
          </a:xfrm>
          <a:prstGeom prst="rect">
            <a:avLst/>
          </a:prstGeom>
          <a:solidFill>
            <a:srgbClr val="016B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22783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Raíz de composición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Solo presentation conoce las clases concretas y las inyecta en los casos de uso.</a:t>
            </a:r>
            <a:endParaRPr lang="en-US" sz="1500" dirty="0"/>
          </a:p>
        </p:txBody>
      </p:sp>
      <p:sp>
        <p:nvSpPr>
          <p:cNvPr id="26" name="card 65"/>
          <p:cNvSpPr/>
          <p:nvPr/>
        </p:nvSpPr>
        <p:spPr>
          <a:xfrm>
            <a:off x="8823960" y="3063240"/>
            <a:ext cx="2788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7" name="pattern bar 3"/>
          <p:cNvSpPr/>
          <p:nvPr/>
        </p:nvSpPr>
        <p:spPr>
          <a:xfrm>
            <a:off x="8823960" y="3291840"/>
            <a:ext cx="64008" cy="1097280"/>
          </a:xfrm>
          <a:prstGeom prst="rect">
            <a:avLst/>
          </a:prstGeom>
          <a:solidFill>
            <a:srgbClr val="0BA3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52560" y="322783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Language packs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El análisis propio de cada lenguaje (tree-sitter) queda fuera del núcleo universal.</a:t>
            </a:r>
            <a:endParaRPr lang="en-US" sz="1500" dirty="0"/>
          </a:p>
        </p:txBody>
      </p:sp>
      <p:sp>
        <p:nvSpPr>
          <p:cNvPr id="29" name="card 66"/>
          <p:cNvSpPr/>
          <p:nvPr/>
        </p:nvSpPr>
        <p:spPr>
          <a:xfrm>
            <a:off x="5943600" y="4754880"/>
            <a:ext cx="2788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30" name="pattern bar 4"/>
          <p:cNvSpPr/>
          <p:nvPr/>
        </p:nvSpPr>
        <p:spPr>
          <a:xfrm>
            <a:off x="5943600" y="4983480"/>
            <a:ext cx="64008" cy="1097280"/>
          </a:xfrm>
          <a:prstGeom prst="rect">
            <a:avLst/>
          </a:prstGeom>
          <a:solidFill>
            <a:srgbClr val="1DD3E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72200" y="491947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Errores tipados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Resultados tipados y códigos RST estables; el usuario nunca ve una traza.</a:t>
            </a:r>
            <a:endParaRPr lang="en-US" sz="1500" dirty="0"/>
          </a:p>
        </p:txBody>
      </p:sp>
      <p:sp>
        <p:nvSpPr>
          <p:cNvPr id="32" name="card 67"/>
          <p:cNvSpPr/>
          <p:nvPr/>
        </p:nvSpPr>
        <p:spPr>
          <a:xfrm>
            <a:off x="8823960" y="4754880"/>
            <a:ext cx="27889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33" name="pattern bar 5"/>
          <p:cNvSpPr/>
          <p:nvPr/>
        </p:nvSpPr>
        <p:spPr>
          <a:xfrm>
            <a:off x="8823960" y="4983480"/>
            <a:ext cx="64008" cy="1097280"/>
          </a:xfrm>
          <a:prstGeom prst="rect">
            <a:avLst/>
          </a:prstGeom>
          <a:solidFill>
            <a:srgbClr val="14418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52560" y="4919472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Prompts versionados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Prompts y formatos de tarjeta son archivos; cada ejecución registra versiones y modelos.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Stack y herramientas de calidad</a:t>
            </a:r>
            <a:endParaRPr lang="en-US" sz="3400" dirty="0"/>
          </a:p>
        </p:txBody>
      </p:sp>
      <p:sp>
        <p:nvSpPr>
          <p:cNvPr id="3" name="card 68"/>
          <p:cNvSpPr/>
          <p:nvPr/>
        </p:nvSpPr>
        <p:spPr>
          <a:xfrm>
            <a:off x="548640" y="141732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con circle 69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A1C58"/>
          </a:solidFill>
          <a:ln/>
        </p:spPr>
      </p:sp>
      <p:pic>
        <p:nvPicPr>
          <p:cNvPr id="5" name="icon 6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Servidor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Node.js 24 LTS, TypeScript estricto, Fastify 5 y zod en las fronteras</a:t>
            </a:r>
            <a:endParaRPr lang="en-US" sz="1300" dirty="0"/>
          </a:p>
        </p:txBody>
      </p:sp>
      <p:sp>
        <p:nvSpPr>
          <p:cNvPr id="8" name="card 70"/>
          <p:cNvSpPr/>
          <p:nvPr/>
        </p:nvSpPr>
        <p:spPr>
          <a:xfrm>
            <a:off x="3337560" y="141732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con circle 71"/>
          <p:cNvSpPr/>
          <p:nvPr/>
        </p:nvSpPr>
        <p:spPr>
          <a:xfrm>
            <a:off x="3566160" y="1645920"/>
            <a:ext cx="685800" cy="685800"/>
          </a:xfrm>
          <a:prstGeom prst="ellipse">
            <a:avLst/>
          </a:prstGeom>
          <a:solidFill>
            <a:srgbClr val="14418E"/>
          </a:solidFill>
          <a:ln/>
        </p:spPr>
      </p:sp>
      <p:pic>
        <p:nvPicPr>
          <p:cNvPr id="10" name="icon 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18242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Interfaz web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468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Preact y Vite; eventos del servidor (SSE) para ver los agentes en vivo</a:t>
            </a:r>
            <a:endParaRPr lang="en-US" sz="1300" dirty="0"/>
          </a:p>
        </p:txBody>
      </p:sp>
      <p:sp>
        <p:nvSpPr>
          <p:cNvPr id="13" name="card 72"/>
          <p:cNvSpPr/>
          <p:nvPr/>
        </p:nvSpPr>
        <p:spPr>
          <a:xfrm>
            <a:off x="6126480" y="141732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con circle 73"/>
          <p:cNvSpPr/>
          <p:nvPr/>
        </p:nvSpPr>
        <p:spPr>
          <a:xfrm>
            <a:off x="6355080" y="1645920"/>
            <a:ext cx="685800" cy="685800"/>
          </a:xfrm>
          <a:prstGeom prst="ellipse">
            <a:avLst/>
          </a:prstGeom>
          <a:solidFill>
            <a:srgbClr val="016BEC"/>
          </a:solidFill>
          <a:ln/>
        </p:spPr>
      </p:sp>
      <p:pic>
        <p:nvPicPr>
          <p:cNvPr id="15" name="icon 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18242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Datos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468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PostgreSQL 17 con SQL parametrizado y migraciones numeradas; archivos para snapshots</a:t>
            </a:r>
            <a:endParaRPr lang="en-US" sz="1300" dirty="0"/>
          </a:p>
        </p:txBody>
      </p:sp>
      <p:sp>
        <p:nvSpPr>
          <p:cNvPr id="18" name="card 74"/>
          <p:cNvSpPr/>
          <p:nvPr/>
        </p:nvSpPr>
        <p:spPr>
          <a:xfrm>
            <a:off x="8915400" y="141732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con circle 75"/>
          <p:cNvSpPr/>
          <p:nvPr/>
        </p:nvSpPr>
        <p:spPr>
          <a:xfrm>
            <a:off x="9144000" y="1645920"/>
            <a:ext cx="685800" cy="685800"/>
          </a:xfrm>
          <a:prstGeom prst="ellipse">
            <a:avLst/>
          </a:prstGeom>
          <a:solidFill>
            <a:srgbClr val="0BA3E9"/>
          </a:solidFill>
          <a:ln/>
        </p:spPr>
      </p:sp>
      <p:pic>
        <p:nvPicPr>
          <p:cNvPr id="20" name="icon 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308" y="182422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21240" y="16459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Modelos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24688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SDK de OpenAI y de Anthropic, Ollama en local y un proveedor falso en las pruebas</a:t>
            </a:r>
            <a:endParaRPr lang="en-US" sz="1300" dirty="0"/>
          </a:p>
        </p:txBody>
      </p:sp>
      <p:sp>
        <p:nvSpPr>
          <p:cNvPr id="23" name="card 76"/>
          <p:cNvSpPr/>
          <p:nvPr/>
        </p:nvSpPr>
        <p:spPr>
          <a:xfrm>
            <a:off x="548640" y="379476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icon circle 77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0A1C58"/>
          </a:solidFill>
          <a:ln/>
        </p:spPr>
      </p:sp>
      <p:pic>
        <p:nvPicPr>
          <p:cNvPr id="25" name="icon 7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20166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54480" y="4023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Lectura de código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4846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tree-sitter para C#; zip con yauzl; Excel con saxes y cfb</a:t>
            </a:r>
            <a:endParaRPr lang="en-US" sz="1300" dirty="0"/>
          </a:p>
        </p:txBody>
      </p:sp>
      <p:sp>
        <p:nvSpPr>
          <p:cNvPr id="28" name="card 78"/>
          <p:cNvSpPr/>
          <p:nvPr/>
        </p:nvSpPr>
        <p:spPr>
          <a:xfrm>
            <a:off x="3337560" y="379476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icon circle 79"/>
          <p:cNvSpPr/>
          <p:nvPr/>
        </p:nvSpPr>
        <p:spPr>
          <a:xfrm>
            <a:off x="3566160" y="4023360"/>
            <a:ext cx="685800" cy="685800"/>
          </a:xfrm>
          <a:prstGeom prst="ellipse">
            <a:avLst/>
          </a:prstGeom>
          <a:solidFill>
            <a:srgbClr val="14418E"/>
          </a:solidFill>
          <a:ln/>
        </p:spPr>
      </p:sp>
      <p:pic>
        <p:nvPicPr>
          <p:cNvPr id="30" name="icon 7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4201668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343400" y="4023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Despliegue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566160" y="4846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Una imagen Docker: Compose en local, Azure Container Apps, GHCR y GitHub Pages</a:t>
            </a:r>
            <a:endParaRPr lang="en-US" sz="1300" dirty="0"/>
          </a:p>
        </p:txBody>
      </p:sp>
      <p:sp>
        <p:nvSpPr>
          <p:cNvPr id="33" name="card 80"/>
          <p:cNvSpPr/>
          <p:nvPr/>
        </p:nvSpPr>
        <p:spPr>
          <a:xfrm>
            <a:off x="6126480" y="379476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4" name="icon circle 81"/>
          <p:cNvSpPr/>
          <p:nvPr/>
        </p:nvSpPr>
        <p:spPr>
          <a:xfrm>
            <a:off x="6355080" y="4023360"/>
            <a:ext cx="685800" cy="685800"/>
          </a:xfrm>
          <a:prstGeom prst="ellipse">
            <a:avLst/>
          </a:prstGeom>
          <a:solidFill>
            <a:srgbClr val="016BEC"/>
          </a:solidFill>
          <a:ln/>
        </p:spPr>
      </p:sp>
      <p:pic>
        <p:nvPicPr>
          <p:cNvPr id="35" name="icon 8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4201668"/>
            <a:ext cx="329184" cy="32918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132320" y="4023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Pruebas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355080" y="4846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Vitest para unitarias e integración; Playwright con axe para E2E y accesibilidad</a:t>
            </a:r>
            <a:endParaRPr lang="en-US" sz="1300" dirty="0"/>
          </a:p>
        </p:txBody>
      </p:sp>
      <p:sp>
        <p:nvSpPr>
          <p:cNvPr id="38" name="card 82"/>
          <p:cNvSpPr/>
          <p:nvPr/>
        </p:nvSpPr>
        <p:spPr>
          <a:xfrm>
            <a:off x="8915400" y="3794760"/>
            <a:ext cx="2651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9" name="icon circle 83"/>
          <p:cNvSpPr/>
          <p:nvPr/>
        </p:nvSpPr>
        <p:spPr>
          <a:xfrm>
            <a:off x="9144000" y="4023360"/>
            <a:ext cx="685800" cy="685800"/>
          </a:xfrm>
          <a:prstGeom prst="ellipse">
            <a:avLst/>
          </a:prstGeom>
          <a:solidFill>
            <a:srgbClr val="0BA3E9"/>
          </a:solidFill>
          <a:ln/>
        </p:spPr>
      </p:sp>
      <p:pic>
        <p:nvPicPr>
          <p:cNvPr id="40" name="icon 8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2308" y="4201668"/>
            <a:ext cx="329184" cy="32918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921240" y="4023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Calidad y seguridad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144000" y="4846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ESLint, Prettier, dependency-cruiser, knip, CodeQL, gitleaks y OWASP ZAP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npm run verify ejecuta tipos, lint, formato, arquitectura, código muerto y pruebas con cobertura; la CI lo repite en Windows y Linux.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¿Qué lenguajes de programación entiende Rosetta?</a:t>
            </a:r>
            <a:endParaRPr lang="en-US" sz="3400" dirty="0"/>
          </a:p>
        </p:txBody>
      </p:sp>
      <p:sp>
        <p:nvSpPr>
          <p:cNvPr id="3" name="card 84"/>
          <p:cNvSpPr/>
          <p:nvPr/>
        </p:nvSpPr>
        <p:spPr>
          <a:xfrm>
            <a:off x="548640" y="1371600"/>
            <a:ext cx="3611880" cy="48006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lang bar 0"/>
          <p:cNvSpPr/>
          <p:nvPr/>
        </p:nvSpPr>
        <p:spPr>
          <a:xfrm>
            <a:off x="548640" y="1371600"/>
            <a:ext cx="3611880" cy="109728"/>
          </a:xfrm>
          <a:prstGeom prst="rect">
            <a:avLst/>
          </a:prstGeom>
          <a:solidFill>
            <a:srgbClr val="0A1C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Análisis profundo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language packs: símbolos, puntos de entrada y líneas exactas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C# y ASP.NET WebForms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.cs con tree-sitter; páginas .aspx, .ascx y .master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93592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VB.NET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.vb, y los bloques VB dentro de páginas WebForms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43984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SQL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.sql: tablas, vistas y procedimientos almacenados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294376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Excel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libros subidos, convertidos a texto con sus celdas</a:t>
            </a:r>
            <a:endParaRPr lang="en-US" sz="1400" dirty="0"/>
          </a:p>
        </p:txBody>
      </p:sp>
      <p:sp>
        <p:nvSpPr>
          <p:cNvPr id="11" name="card 85"/>
          <p:cNvSpPr/>
          <p:nvPr/>
        </p:nvSpPr>
        <p:spPr>
          <a:xfrm>
            <a:off x="4343400" y="1371600"/>
            <a:ext cx="3611880" cy="48006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2" name="lang bar 1"/>
          <p:cNvSpPr/>
          <p:nvPr/>
        </p:nvSpPr>
        <p:spPr>
          <a:xfrm>
            <a:off x="4343400" y="1371600"/>
            <a:ext cx="3611880" cy="109728"/>
          </a:xfrm>
          <a:prstGeom prst="rect">
            <a:avLst/>
          </a:prstGeom>
          <a:solidFill>
            <a:srgbClr val="016B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1645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Lectura universal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0574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sin pack: el mapa reconoce el lenguaje y los agentes leen y citan el código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43200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Java, Kotlin, PHP, Python, Ruby, Go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 JavaScript, TypeScript, C, C++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593592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Legado clásico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ASP clásico, VB6, JSP, COBOL, Fortran, Pascal y Delphi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443984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Configuración y datos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XML, JSON, YAML, archivos .config y de proyecto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294376"/>
            <a:ext cx="3154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Unos 45 lenguajes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por extensión; añadir uno es una línea de la tabla</a:t>
            </a:r>
            <a:endParaRPr lang="en-US" sz="1400" dirty="0"/>
          </a:p>
        </p:txBody>
      </p:sp>
      <p:sp>
        <p:nvSpPr>
          <p:cNvPr id="19" name="card 86"/>
          <p:cNvSpPr/>
          <p:nvPr/>
        </p:nvSpPr>
        <p:spPr>
          <a:xfrm>
            <a:off x="8138160" y="1371600"/>
            <a:ext cx="3474720" cy="4800600"/>
          </a:xfrm>
          <a:prstGeom prst="roundRect">
            <a:avLst>
              <a:gd name="adj" fmla="val 3158"/>
            </a:avLst>
          </a:prstGeom>
          <a:solidFill>
            <a:srgbClr val="0A1C5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6676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Medido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C# y WebForms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8346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eShopLegacyWebForms con el conjunto de referencia: precisión 99,1 %, recuperación 86,7 %, citas 100 %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VB.NET y SQL: probados con aplicaciones de ejemplo y pruebas automáticas, sin conjunto de referencia todavía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Otro lenguaje: funciona con la lectura universal; un pack nuevo añade el análisis profundo sin tocar el núcleo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Despliegue: Azure Container Apps, España Central</a:t>
            </a:r>
            <a:endParaRPr lang="en-US" sz="3400" dirty="0"/>
          </a:p>
        </p:txBody>
      </p:sp>
      <p:sp>
        <p:nvSpPr>
          <p:cNvPr id="3" name="icon circle 87"/>
          <p:cNvSpPr/>
          <p:nvPr/>
        </p:nvSpPr>
        <p:spPr>
          <a:xfrm>
            <a:off x="548640" y="146304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con 8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1688897"/>
            <a:ext cx="416966" cy="4169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444752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Una sola imagen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misma imagen de contenedor en local (Docker Compose) y alojada en Azure.</a:t>
            </a:r>
            <a:endParaRPr lang="en-US" sz="1800" dirty="0"/>
          </a:p>
        </p:txBody>
      </p:sp>
      <p:sp>
        <p:nvSpPr>
          <p:cNvPr id="6" name="icon circle 88"/>
          <p:cNvSpPr/>
          <p:nvPr/>
        </p:nvSpPr>
        <p:spPr>
          <a:xfrm>
            <a:off x="548640" y="26517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 8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7" y="2877617"/>
            <a:ext cx="416966" cy="41696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633472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Sin secretos en GitHub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Login por OIDC con identidad federada; secretos solo en el almacén del entorno.</a:t>
            </a:r>
            <a:endParaRPr lang="en-US" sz="1800" dirty="0"/>
          </a:p>
        </p:txBody>
      </p:sp>
      <p:sp>
        <p:nvSpPr>
          <p:cNvPr id="9" name="icon circle 89"/>
          <p:cNvSpPr/>
          <p:nvPr/>
        </p:nvSpPr>
        <p:spPr>
          <a:xfrm>
            <a:off x="548640" y="38404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 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4066337"/>
            <a:ext cx="416966" cy="41696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3822192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Prueba de humo superada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Salud, redirección a HTTPS, inicio de sesión de la cuenta de evaluación y un Scan.</a:t>
            </a:r>
            <a:endParaRPr lang="en-US" sz="1800" dirty="0"/>
          </a:p>
        </p:txBody>
      </p:sp>
      <p:sp>
        <p:nvSpPr>
          <p:cNvPr id="12" name="icon circle 90"/>
          <p:cNvSpPr/>
          <p:nvPr/>
        </p:nvSpPr>
        <p:spPr>
          <a:xfrm>
            <a:off x="548640" y="5029200"/>
            <a:ext cx="868680" cy="868680"/>
          </a:xfrm>
          <a:prstGeom prst="ellipse">
            <a:avLst/>
          </a:prstGeom>
          <a:solidFill>
            <a:srgbClr val="0BA3E9"/>
          </a:solidFill>
          <a:ln/>
        </p:spPr>
      </p:sp>
      <p:pic>
        <p:nvPicPr>
          <p:cNvPr id="13" name="icon 9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7" y="5255057"/>
            <a:ext cx="416966" cy="41696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5920" y="5010912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ZAP: 0 hallazgos altos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Escaneo OWASP ZAP del commit desplegado: 0 altos, 0 medios, 0 bajos.</a:t>
            </a:r>
            <a:endParaRPr lang="en-US" sz="1800" dirty="0"/>
          </a:p>
        </p:txBody>
      </p:sp>
      <p:sp>
        <p:nvSpPr>
          <p:cNvPr id="15" name="card 91"/>
          <p:cNvSpPr/>
          <p:nvPr/>
        </p:nvSpPr>
        <p:spPr>
          <a:xfrm>
            <a:off x="7223760" y="1463040"/>
            <a:ext cx="4389120" cy="457200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74980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Imagen en producción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49808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sha-6baab02</a:t>
            </a:r>
            <a:endParaRPr lang="en-US" sz="3200" dirty="0"/>
          </a:p>
        </p:txBody>
      </p:sp>
      <p:sp>
        <p:nvSpPr>
          <p:cNvPr id="18" name="Text 12"/>
          <p:cNvSpPr txBox="1"/>
          <p:nvPr/>
        </p:nvSpPr>
        <p:spPr>
          <a:xfrm>
            <a:off x="7498080" y="3063240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Desplegada el 2026-10-24 desde main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PostgreSQL 17 gestionado, copias con restauración a un punto de 7 días y bloqueo contra borrado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/healthz responde 200 por HTTPS; HTTP redirige con 301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Presupuesto con alertas de 25 USD al mes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Resultados: ejecución real en el entorno alojado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eShopLegacyWebForms (MIT), con la cuenta de evaluación y Claude Haiku 5.5 en reader, verifier y summariser, 2026-10-24</a:t>
            </a:r>
            <a:endParaRPr lang="en-US" sz="1500" dirty="0"/>
          </a:p>
        </p:txBody>
      </p:sp>
      <p:sp>
        <p:nvSpPr>
          <p:cNvPr id="4" name="card 92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145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archivos y 42 áreas en el mapa del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Scan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, sin coste</a:t>
            </a:r>
            <a:endParaRPr lang="en-US" sz="1500" dirty="0"/>
          </a:p>
        </p:txBody>
      </p:sp>
      <p:sp>
        <p:nvSpPr>
          <p:cNvPr id="7" name="card 93"/>
          <p:cNvSpPr/>
          <p:nvPr/>
        </p:nvSpPr>
        <p:spPr>
          <a:xfrm>
            <a:off x="429768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53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tarjetas del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Understand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sobre 11 áreas</a:t>
            </a:r>
            <a:endParaRPr lang="en-US" sz="1500" dirty="0"/>
          </a:p>
        </p:txBody>
      </p:sp>
      <p:sp>
        <p:nvSpPr>
          <p:cNvPr id="10" name="card 94"/>
          <p:cNvSpPr/>
          <p:nvPr/>
        </p:nvSpPr>
        <p:spPr>
          <a:xfrm>
            <a:off x="804672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2194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204 / 204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citas comprobadas en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Verify</a:t>
            </a:r>
            <a:endParaRPr lang="en-US" sz="1500" dirty="0"/>
          </a:p>
        </p:txBody>
      </p:sp>
      <p:sp>
        <p:nvSpPr>
          <p:cNvPr id="13" name="card 95"/>
          <p:cNvSpPr/>
          <p:nvPr/>
        </p:nvSpPr>
        <p:spPr>
          <a:xfrm>
            <a:off x="548640" y="406908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171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12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afirmaciones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Supported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por el verifier</a:t>
            </a:r>
            <a:endParaRPr lang="en-US" sz="1500" dirty="0"/>
          </a:p>
        </p:txBody>
      </p:sp>
      <p:sp>
        <p:nvSpPr>
          <p:cNvPr id="16" name="card 96"/>
          <p:cNvSpPr/>
          <p:nvPr/>
        </p:nvSpPr>
        <p:spPr>
          <a:xfrm>
            <a:off x="4297680" y="406908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accent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0,114 USD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212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coste total de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Understand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y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Plan</a:t>
            </a:r>
            <a:endParaRPr lang="en-US" sz="1500" dirty="0"/>
          </a:p>
        </p:txBody>
      </p:sp>
      <p:sp>
        <p:nvSpPr>
          <p:cNvPr id="19" name="card 97"/>
          <p:cNvSpPr/>
          <p:nvPr/>
        </p:nvSpPr>
        <p:spPr>
          <a:xfrm>
            <a:off x="8046720" y="4069080"/>
            <a:ext cx="35204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36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2120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archivos en el paquete del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Objetivos de la release 1 frente a lo medido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411480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Métrica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Objetivo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Medida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Citas válidas en afirmaciones Supported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16BE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100 % (204 de 204) en la demostración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Coste de una ejecución completa de demostración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menos de 1 USD en la nube; 0 USD con Ollama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16BE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0,114 USD con Claude Haiku 5.5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Precisión de las afirmaciones Supported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 menos 90 % correctas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16BE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99,1 % (98,6-100 %) de las que cubre el conjunto de referencia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Recuperación de reglas conocidas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 menos 70 % encontradas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16BE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86,7 % (85-90 %) de las reglas de referencia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Medido el 2026-10-25 con el conjunto de referencia de eShopLegacyWebForms: 3 ejecuciones con Claude Haiku 5.5, 0,08 USD por ejecución. El 57 % de las afirmaciones Supported queda fuera del conjunto y no se puntúa.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Demostración en vivo</a:t>
            </a:r>
            <a:endParaRPr lang="en-US" sz="3400" dirty="0"/>
          </a:p>
        </p:txBody>
      </p:sp>
      <p:sp>
        <p:nvSpPr>
          <p:cNvPr id="3" name="card 98"/>
          <p:cNvSpPr/>
          <p:nvPr/>
        </p:nvSpPr>
        <p:spPr>
          <a:xfrm>
            <a:off x="548640" y="155448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demo step 0"/>
          <p:cNvSpPr/>
          <p:nvPr/>
        </p:nvSpPr>
        <p:spPr>
          <a:xfrm>
            <a:off x="822960" y="180136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7373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Iniciar sesión con la cuenta de evaluación</a:t>
            </a:r>
            <a:endParaRPr lang="en-US" sz="1700" dirty="0"/>
          </a:p>
        </p:txBody>
      </p:sp>
      <p:sp>
        <p:nvSpPr>
          <p:cNvPr id="7" name="card 99"/>
          <p:cNvSpPr/>
          <p:nvPr/>
        </p:nvSpPr>
        <p:spPr>
          <a:xfrm>
            <a:off x="6217920" y="155448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demo step 1"/>
          <p:cNvSpPr/>
          <p:nvPr/>
        </p:nvSpPr>
        <p:spPr>
          <a:xfrm>
            <a:off x="6492240" y="180136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8013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17373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Usar el repositorio de demostración</a:t>
            </a:r>
            <a:endParaRPr lang="en-US" sz="1700" dirty="0"/>
          </a:p>
        </p:txBody>
      </p:sp>
      <p:sp>
        <p:nvSpPr>
          <p:cNvPr id="11" name="card 100"/>
          <p:cNvSpPr/>
          <p:nvPr/>
        </p:nvSpPr>
        <p:spPr>
          <a:xfrm>
            <a:off x="548640" y="301752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demo step 2"/>
          <p:cNvSpPr/>
          <p:nvPr/>
        </p:nvSpPr>
        <p:spPr>
          <a:xfrm>
            <a:off x="822960" y="326440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264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2004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Scan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: mapa del código en segundos</a:t>
            </a:r>
            <a:endParaRPr lang="en-US" sz="1700" dirty="0"/>
          </a:p>
        </p:txBody>
      </p:sp>
      <p:sp>
        <p:nvSpPr>
          <p:cNvPr id="15" name="card 101"/>
          <p:cNvSpPr/>
          <p:nvPr/>
        </p:nvSpPr>
        <p:spPr>
          <a:xfrm>
            <a:off x="6217920" y="301752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6" name="demo step 3"/>
          <p:cNvSpPr/>
          <p:nvPr/>
        </p:nvSpPr>
        <p:spPr>
          <a:xfrm>
            <a:off x="6492240" y="326440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264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32004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Understand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: elegir áreas, ver la estimación y confirmar</a:t>
            </a:r>
            <a:endParaRPr lang="en-US" sz="1700" dirty="0"/>
          </a:p>
        </p:txBody>
      </p:sp>
      <p:sp>
        <p:nvSpPr>
          <p:cNvPr id="19" name="card 102"/>
          <p:cNvSpPr/>
          <p:nvPr/>
        </p:nvSpPr>
        <p:spPr>
          <a:xfrm>
            <a:off x="548640" y="448056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0" name="demo step 4"/>
          <p:cNvSpPr/>
          <p:nvPr/>
        </p:nvSpPr>
        <p:spPr>
          <a:xfrm>
            <a:off x="822960" y="472744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727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663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Seguir al reader y al verifier, y el coste, en vivo</a:t>
            </a:r>
            <a:endParaRPr lang="en-US" sz="1700" dirty="0"/>
          </a:p>
        </p:txBody>
      </p:sp>
      <p:sp>
        <p:nvSpPr>
          <p:cNvPr id="23" name="card 103"/>
          <p:cNvSpPr/>
          <p:nvPr/>
        </p:nvSpPr>
        <p:spPr>
          <a:xfrm>
            <a:off x="6217920" y="448056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4" name="demo step 5"/>
          <p:cNvSpPr/>
          <p:nvPr/>
        </p:nvSpPr>
        <p:spPr>
          <a:xfrm>
            <a:off x="6492240" y="4727448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92240" y="4727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66344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Plan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: preparar el brief y descargar el paquete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Enlaces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Aplicación alojada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356616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u="sng" dirty="0">
                <a:solidFill>
                  <a:schemeClr val="accent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https://ca-rosetta.nicewater-1ef3fc33.spaincentral.azurecontainerapps.io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87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Repositorio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41879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https://github.com/blacklight0101/Rosetta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718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Informe de ejemplo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47183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u="sng" dirty="0">
                <a:solidFill>
                  <a:schemeClr val="accent2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https://blacklight0101.github.io/Rosetta/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2486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Vídeo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5248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pendiente de grabar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779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Cuenta de evaluación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7790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se entrega en el formulario, no en las diapositivas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setta Brand">
  <a:themeElements>
    <a:clrScheme name="Rosetta Brand">
      <a:dk1>
        <a:srgbClr val="0A1430"/>
      </a:dk1>
      <a:lt1>
        <a:srgbClr val="FFFFFF"/>
      </a:lt1>
      <a:dk2>
        <a:srgbClr val="0A1C58"/>
      </a:dk2>
      <a:lt2>
        <a:srgbClr val="EAF3FD"/>
      </a:lt2>
      <a:accent1>
        <a:srgbClr val="016BEC"/>
      </a:accent1>
      <a:accent2>
        <a:srgbClr val="1DD3EB"/>
      </a:accent2>
      <a:accent3>
        <a:srgbClr val="14418E"/>
      </a:accent3>
      <a:accent4>
        <a:srgbClr val="0BA3E9"/>
      </a:accent4>
      <a:accent5>
        <a:srgbClr val="6CECE0"/>
      </a:accent5>
      <a:accent6>
        <a:srgbClr val="E3F9FB"/>
      </a:accent6>
      <a:hlink>
        <a:srgbClr val="016BEC"/>
      </a:hlink>
      <a:folHlink>
        <a:srgbClr val="14418E"/>
      </a:folHlink>
    </a:clrScheme>
    <a:fontScheme name="Rosetta Brand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Rosetta - Hito 1</dc:title>
  <dc:subject>De código legado a una especificación verificada</dc:subject>
  <dc:creator>BlackLigth (blacklight0101)</dc:creator>
  <cp:lastModifiedBy>BlackLigth (blacklight0101)</cp:lastModifiedBy>
  <cp:revision>1</cp:revision>
  <dcterms:created xsi:type="dcterms:W3CDTF">2026-10-25T10:12:41Z</dcterms:created>
  <dcterms:modified xsi:type="dcterms:W3CDTF">2026-10-25T10:12:41Z</dcterms:modified>
</cp:coreProperties>
</file>